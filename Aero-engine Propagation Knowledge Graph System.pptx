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embeddedFontLst>
    <p:embeddedFont>
      <p:font typeface="Inter" panose="02010600030101010101" charset="0"/>
      <p:regular r:id="rId14"/>
      <p:bold r:id="rId15"/>
      <p:italic r:id="rId16"/>
      <p:boldItalic r:id="rId17"/>
    </p:embeddedFont>
    <p:embeddedFont>
      <p:font typeface="Inter Medium" panose="02010600030101010101" charset="0"/>
      <p:regular r:id="rId18"/>
      <p:bold r:id="rId19"/>
      <p:italic r:id="rId20"/>
      <p:boldItalic r:id="rId21"/>
    </p:embeddedFont>
    <p:embeddedFont>
      <p:font typeface="Inter SemiBold" panose="02010600030101010101" charset="0"/>
      <p:regular r:id="rId22"/>
      <p:bold r:id="rId23"/>
      <p:italic r:id="rId24"/>
      <p:boldItalic r:id="rId25"/>
    </p:embeddedFont>
    <p:embeddedFont>
      <p:font typeface="JetBrains Mono" panose="02010600030101010101" charset="0"/>
      <p:regular r:id="rId26"/>
      <p:bold r:id="rId27"/>
      <p:italic r:id="rId28"/>
      <p:boldItalic r:id="rId29"/>
    </p:embeddedFont>
    <p:embeddedFont>
      <p:font typeface="JetBrains Mono SemiBold" panose="02010600030101010101" charset="0"/>
      <p:regular r:id="rId30"/>
      <p:bold r:id="rId31"/>
      <p:italic r:id="rId32"/>
      <p:boldItalic r:id="rId33"/>
    </p:embeddedFont>
    <p:embeddedFont>
      <p:font typeface="Montserrat" panose="00000500000000000000" pitchFamily="2" charset="0"/>
      <p:regular r:id="rId34"/>
      <p:bold r:id="rId35"/>
      <p:italic r:id="rId36"/>
      <p:boldItalic r:id="rId37"/>
    </p:embeddedFont>
    <p:embeddedFont>
      <p:font typeface="Montserrat ExtraBold" panose="00000900000000000000" pitchFamily="2" charset="0"/>
      <p:bold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0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3721447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360533" y="1980455"/>
            <a:ext cx="7470933" cy="122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Aero-engine Propagation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0" i="0" u="none" strike="noStrike" cap="none">
                <a:solidFill>
                  <a:srgbClr val="2563E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Knowledge Graph System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619499" y="4192935"/>
            <a:ext cx="4953000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75" dirty="0">
                <a:solidFill>
                  <a:srgbClr val="64748B"/>
                </a:solidFill>
                <a:latin typeface="JetBrains Mono"/>
                <a:cs typeface="JetBrains Mono"/>
                <a:sym typeface="JetBrains Mono"/>
              </a:rPr>
              <a:t>任懿涛 </a:t>
            </a:r>
            <a:r>
              <a:rPr lang="en-US" altLang="zh-CN" sz="975" dirty="0">
                <a:solidFill>
                  <a:srgbClr val="64748B"/>
                </a:solidFill>
                <a:latin typeface="JetBrains Mono"/>
                <a:cs typeface="JetBrains Mono"/>
                <a:sym typeface="JetBrains Mono"/>
              </a:rPr>
              <a:t>34520232201115</a:t>
            </a:r>
            <a:endParaRPr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A9A842C5-5748-3399-B7CA-2511F90A4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8407" y="3116072"/>
            <a:ext cx="5397186" cy="3711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677370"/>
            <a:ext cx="5542508" cy="1112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143625"/>
            <a:ext cx="10648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71525" y="6296025"/>
            <a:ext cx="1495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02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220200" y="6315075"/>
            <a:ext cx="2200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47800" y="6296025"/>
            <a:ext cx="8191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771525" y="1820763"/>
            <a:ext cx="5542508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Aerospace physical modeling processes currently suffer from fragmented, document-isolated architectures: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76325" y="2590204"/>
            <a:ext cx="5237708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Rigid Toolchains: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Parameter data is locked in specialized 1D/3D design codes.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76325" y="3279576"/>
            <a:ext cx="5237708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Untraceable Changes: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Component changes downstream lack automated, structural impact pathway assessments.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1076325" y="3968948"/>
            <a:ext cx="5237708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Boundary Violations: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Material thermal limit structures are decoupled from early-phase thermodynamical updates.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00125" y="4867870"/>
            <a:ext cx="5123408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Objective:</a:t>
            </a:r>
            <a:r>
              <a:rPr lang="en-US" sz="1200" b="0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 Reconstruct fragmented engineering dependencies into an actionable </a:t>
            </a:r>
            <a:r>
              <a:rPr lang="en-US" sz="120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Engineering Knowledge Graph System</a:t>
            </a:r>
            <a:r>
              <a:rPr lang="en-US" sz="1200" b="0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 enabling real-time topological propagation.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71525" y="581025"/>
            <a:ext cx="111813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Knowledge Silo Challenge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71525" y="100012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60925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29862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98799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F0FA7D-486C-7BE7-46E7-3B9F8F4885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4966" y="463550"/>
            <a:ext cx="5210729" cy="5765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ACDDEC-1F3D-46E5-6F09-D989D9F481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8978" y="4777117"/>
            <a:ext cx="3062718" cy="9846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143625"/>
            <a:ext cx="10648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6296025"/>
            <a:ext cx="13620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03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220200" y="6315075"/>
            <a:ext cx="2200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7800" y="6296025"/>
            <a:ext cx="6858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072722" y="1134284"/>
            <a:ext cx="10579001" cy="4875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propose a rigorous five-layer engineering ontology designed to structuralize aerospace systems:</a:t>
            </a:r>
          </a:p>
          <a:p>
            <a:pPr>
              <a:lnSpc>
                <a:spcPct val="159921"/>
              </a:lnSpc>
            </a:pPr>
            <a:r>
              <a:rPr lang="en-US" altLang="zh-CN" sz="2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Subsystem Layer:</a:t>
            </a:r>
            <a:r>
              <a:rPr lang="en-US" altLang="zh-CN" sz="22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Coarse boundaries (e.g., Compressor, Turbine).</a:t>
            </a:r>
          </a:p>
          <a:p>
            <a:pPr>
              <a:lnSpc>
                <a:spcPct val="159921"/>
              </a:lnSpc>
            </a:pPr>
            <a:r>
              <a:rPr lang="en-US" altLang="zh-CN" sz="2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Component Layer:</a:t>
            </a:r>
            <a:r>
              <a:rPr lang="en-US" altLang="zh-CN" sz="22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Subsystem physical parts (e.g., Rotor, Blade).</a:t>
            </a:r>
            <a:endParaRPr lang="en-US" altLang="zh-CN" sz="2200" dirty="0"/>
          </a:p>
          <a:p>
            <a:pPr>
              <a:lnSpc>
                <a:spcPct val="159921"/>
              </a:lnSpc>
            </a:pPr>
            <a:r>
              <a:rPr lang="en-US" altLang="zh-CN" sz="2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Parameter Layer:</a:t>
            </a:r>
            <a:r>
              <a:rPr lang="en-US" altLang="zh-CN" sz="22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High-fidelity quantified features (e.g., Temperature, Pressure).</a:t>
            </a:r>
            <a:endParaRPr lang="en-US" altLang="zh-CN" sz="2200" dirty="0"/>
          </a:p>
          <a:p>
            <a:pPr>
              <a:lnSpc>
                <a:spcPct val="159921"/>
              </a:lnSpc>
            </a:pPr>
            <a:r>
              <a:rPr lang="en-US" altLang="zh-CN" sz="2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Equation Layer:</a:t>
            </a:r>
            <a:r>
              <a:rPr lang="en-US" altLang="zh-CN" sz="22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Rules connecting parameters through numeric logic.</a:t>
            </a:r>
          </a:p>
          <a:p>
            <a:pPr>
              <a:lnSpc>
                <a:spcPct val="159921"/>
              </a:lnSpc>
            </a:pPr>
            <a:r>
              <a:rPr lang="en-US" altLang="zh-CN" sz="2200" dirty="0" err="1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BoundaryCondition</a:t>
            </a:r>
            <a:r>
              <a:rPr lang="en-US" altLang="zh-CN" sz="2200" dirty="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r>
              <a:rPr lang="en-US" altLang="zh-CN" sz="2200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Defining safety/material tolerances and environmental bounds.</a:t>
            </a:r>
            <a:endParaRPr lang="en-US" altLang="zh-CN" sz="2200" dirty="0"/>
          </a:p>
        </p:txBody>
      </p:sp>
      <p:sp>
        <p:nvSpPr>
          <p:cNvPr id="131" name="Google Shape;131;p15"/>
          <p:cNvSpPr txBox="1"/>
          <p:nvPr/>
        </p:nvSpPr>
        <p:spPr>
          <a:xfrm>
            <a:off x="771525" y="581025"/>
            <a:ext cx="111813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Five-Layer Ontology Design</a:t>
            </a:r>
            <a:endParaRPr dirty="0"/>
          </a:p>
        </p:txBody>
      </p:sp>
      <p:sp>
        <p:nvSpPr>
          <p:cNvPr id="132" name="Google Shape;132;p15"/>
          <p:cNvSpPr/>
          <p:nvPr/>
        </p:nvSpPr>
        <p:spPr>
          <a:xfrm>
            <a:off x="841160" y="1322338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1551" y="243681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7194" y="295004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7195" y="3463278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8310" y="4541936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7194" y="508094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6143625"/>
            <a:ext cx="10648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771525" y="6296025"/>
            <a:ext cx="24955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04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220200" y="6315075"/>
            <a:ext cx="2200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6296025"/>
            <a:ext cx="18192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71525" y="581025"/>
            <a:ext cx="111813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Compression Subsystem Model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771525" y="100012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A10B543A-DB0E-A170-7B49-0CB4DD686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3452" y="-700711"/>
            <a:ext cx="10325096" cy="77492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87DC215-893D-2A01-181F-2ACE33CDD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17" y="4660900"/>
            <a:ext cx="1618177" cy="13402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3EC6D35-2E76-C042-EADC-F495F53F23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606550"/>
            <a:ext cx="2269060" cy="1506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143625"/>
            <a:ext cx="10648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771525" y="6296025"/>
            <a:ext cx="18954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05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220200" y="6315075"/>
            <a:ext cx="2200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7800" y="6296025"/>
            <a:ext cx="12192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771525" y="581025"/>
            <a:ext cx="111813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Combustion Subsystem Model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771525" y="100012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251BF4C1-36E7-C58A-1C69-55C91AB468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98" y="1171575"/>
            <a:ext cx="12192000" cy="47879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BC6BF9-6DA8-D410-E895-8E48732DAB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0071" y="3632199"/>
            <a:ext cx="2388906" cy="16781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EFC2BEB-709A-4A35-2E57-B5E8D26C23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3593" y="3559440"/>
            <a:ext cx="2365388" cy="1932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5118794"/>
            <a:ext cx="5542508" cy="791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6143625"/>
            <a:ext cx="10648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771525" y="6296025"/>
            <a:ext cx="17621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06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220200" y="6315075"/>
            <a:ext cx="2200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191" name="Google Shape;19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47800" y="6296025"/>
            <a:ext cx="10858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1038225" y="5299769"/>
            <a:ext cx="503768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A580C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GOVERNING THERMAL COUPLING</a:t>
            </a:r>
            <a:endParaRPr/>
          </a:p>
        </p:txBody>
      </p:sp>
      <p:pic>
        <p:nvPicPr>
          <p:cNvPr id="199" name="Google Shape;19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8225" y="5537894"/>
            <a:ext cx="1552128" cy="19094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771525" y="581025"/>
            <a:ext cx="111813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Multi-Domain Semantic Logic</a:t>
            </a:r>
            <a:endParaRPr dirty="0"/>
          </a:p>
        </p:txBody>
      </p:sp>
      <p:sp>
        <p:nvSpPr>
          <p:cNvPr id="201" name="Google Shape;201;p18"/>
          <p:cNvSpPr/>
          <p:nvPr/>
        </p:nvSpPr>
        <p:spPr>
          <a:xfrm>
            <a:off x="771525" y="100012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D0B18447-0213-2627-952A-995243F964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6802" y="-247651"/>
            <a:ext cx="10418396" cy="75243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79637DF-0D4E-062A-4EA2-531CC24FB7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9833" y="642665"/>
            <a:ext cx="3620734" cy="11657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09D1C9-228E-9B14-D37A-31514F3E755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1354" y="2126053"/>
            <a:ext cx="1891133" cy="11657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143625"/>
            <a:ext cx="10648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771525" y="6296025"/>
            <a:ext cx="21621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07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220200" y="6315075"/>
            <a:ext cx="2200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216" name="Google Shape;21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7800" y="6296025"/>
            <a:ext cx="14859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771525" y="581025"/>
            <a:ext cx="111813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Path Propagation Traversal (compression as example)</a:t>
            </a:r>
            <a:endParaRPr dirty="0"/>
          </a:p>
        </p:txBody>
      </p:sp>
      <p:sp>
        <p:nvSpPr>
          <p:cNvPr id="223" name="Google Shape;223;p19"/>
          <p:cNvSpPr/>
          <p:nvPr/>
        </p:nvSpPr>
        <p:spPr>
          <a:xfrm>
            <a:off x="771525" y="100012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4B06183E-F6B4-9B43-74C6-33BB73B4B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4950" y="-872331"/>
            <a:ext cx="8704262" cy="87042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AA7930-CA5E-4388-CE94-F075A6F1C2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950" y="4472803"/>
            <a:ext cx="3396524" cy="1504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143625"/>
            <a:ext cx="106489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771525" y="6296025"/>
            <a:ext cx="16954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09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9220200" y="6315075"/>
            <a:ext cx="220027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255" name="Google Shape;25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7800" y="6296025"/>
            <a:ext cx="10191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771525" y="581025"/>
            <a:ext cx="111813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Parameter Coupling Hubs</a:t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771525" y="100012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C2E135-0656-870D-998E-290358E0E2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550" y="4509980"/>
            <a:ext cx="3573286" cy="1176481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FB735D90-1FC5-E040-A677-54EAF6E8D1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6261" y="234950"/>
            <a:ext cx="107142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6134100"/>
            <a:ext cx="106489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771525" y="6286500"/>
            <a:ext cx="12906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10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9691687" y="6305550"/>
            <a:ext cx="17287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276" name="Google Shape;27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6286500"/>
            <a:ext cx="728662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771525" y="581025"/>
            <a:ext cx="1118139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Constraint Network Bounds</a:t>
            </a:r>
            <a:endParaRPr/>
          </a:p>
        </p:txBody>
      </p:sp>
      <p:sp>
        <p:nvSpPr>
          <p:cNvPr id="283" name="Google Shape;283;p22"/>
          <p:cNvSpPr/>
          <p:nvPr/>
        </p:nvSpPr>
        <p:spPr>
          <a:xfrm>
            <a:off x="771525" y="9810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E3F15E7E-C178-A343-383A-4D1593E63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00200" y="0"/>
            <a:ext cx="8297182" cy="7179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774156"/>
            <a:ext cx="2483643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3293" y="2774156"/>
            <a:ext cx="2483643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774156"/>
            <a:ext cx="2483643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36831" y="2774156"/>
            <a:ext cx="2483643" cy="2043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6134100"/>
            <a:ext cx="106489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 txBox="1"/>
          <p:nvPr/>
        </p:nvSpPr>
        <p:spPr>
          <a:xfrm>
            <a:off x="771525" y="6286500"/>
            <a:ext cx="14478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SLIDE 11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9691687" y="6305550"/>
            <a:ext cx="1728787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AERO-ENGINE KNOWLEDGE PROPAGATION</a:t>
            </a:r>
            <a:endParaRPr/>
          </a:p>
        </p:txBody>
      </p:sp>
      <p:pic>
        <p:nvPicPr>
          <p:cNvPr id="299" name="Google Shape;299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3500" y="6286500"/>
            <a:ext cx="8858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1019175" y="3545681"/>
            <a:ext cx="208776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Python ETL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019175" y="3879056"/>
            <a:ext cx="1988343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Constructs nodes and relationships directly from structured CSV topologies.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3740943" y="3545681"/>
            <a:ext cx="208776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Neo4j Aura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3740943" y="3879056"/>
            <a:ext cx="1988343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Ensures robust cloud graph hosting and complex Cypher query execution.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462712" y="3545681"/>
            <a:ext cx="208776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vis.js Engine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462712" y="3879056"/>
            <a:ext cx="1988343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Compiles graphs into interactive, hardware-accelerated vectors.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9184481" y="3545681"/>
            <a:ext cx="208776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HTML Export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9184481" y="3879056"/>
            <a:ext cx="1988343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Allows designers to search, filter, and inspect systems offline.</a:t>
            </a:r>
            <a:endParaRPr/>
          </a:p>
        </p:txBody>
      </p:sp>
      <p:pic>
        <p:nvPicPr>
          <p:cNvPr id="308" name="Google Shape;30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9175" y="3088481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740943" y="3088481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2712" y="3088481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184481" y="3088481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3"/>
          <p:cNvSpPr txBox="1"/>
          <p:nvPr/>
        </p:nvSpPr>
        <p:spPr>
          <a:xfrm>
            <a:off x="771525" y="581025"/>
            <a:ext cx="1118139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Interactive Offline System</a:t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771525" y="981075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083DED-8D87-CDB4-9CED-30BCFEF3DFBF}"/>
              </a:ext>
            </a:extLst>
          </p:cNvPr>
          <p:cNvSpPr txBox="1"/>
          <p:nvPr/>
        </p:nvSpPr>
        <p:spPr>
          <a:xfrm>
            <a:off x="828675" y="979586"/>
            <a:ext cx="5599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本项目开源，</a:t>
            </a:r>
            <a:r>
              <a:rPr lang="en-US" altLang="zh-CN" dirty="0" err="1"/>
              <a:t>github</a:t>
            </a:r>
            <a:r>
              <a:rPr lang="zh-CN" altLang="en-US" dirty="0"/>
              <a:t>仓库地址：</a:t>
            </a:r>
            <a:r>
              <a:rPr lang="en-US" altLang="zh-CN" dirty="0"/>
              <a:t>https://github.com/ren2335/engine-kg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10175" y="1504652"/>
            <a:ext cx="17716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2900064"/>
            <a:ext cx="7620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" y="3319164"/>
            <a:ext cx="3079700" cy="134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56075" y="3319164"/>
            <a:ext cx="3079700" cy="134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16775" y="3319164"/>
            <a:ext cx="3079849" cy="134466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/>
          <p:nvPr/>
        </p:nvSpPr>
        <p:spPr>
          <a:xfrm>
            <a:off x="3225641" y="1933277"/>
            <a:ext cx="5740717" cy="66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 dirty="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Thanks for listening</a:t>
            </a:r>
            <a:endParaRPr dirty="0"/>
          </a:p>
        </p:txBody>
      </p:sp>
      <p:sp>
        <p:nvSpPr>
          <p:cNvPr id="326" name="Google Shape;326;p24"/>
          <p:cNvSpPr txBox="1"/>
          <p:nvPr/>
        </p:nvSpPr>
        <p:spPr>
          <a:xfrm>
            <a:off x="1285875" y="3528714"/>
            <a:ext cx="283363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Engineering Graph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1285875" y="3833514"/>
            <a:ext cx="26987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Breaking traditional paper silos to establish dynamic, cross-domain parameter dependencies.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4746575" y="3528714"/>
            <a:ext cx="283363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Traceability &amp; Bounds</a:t>
            </a:r>
            <a:endParaRPr dirty="0"/>
          </a:p>
        </p:txBody>
      </p:sp>
      <p:sp>
        <p:nvSpPr>
          <p:cNvPr id="329" name="Google Shape;329;p24"/>
          <p:cNvSpPr txBox="1"/>
          <p:nvPr/>
        </p:nvSpPr>
        <p:spPr>
          <a:xfrm>
            <a:off x="4746575" y="3833514"/>
            <a:ext cx="26987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Tracing propagation pathways and checking boundary limit states instantly.</a:t>
            </a:r>
            <a:endParaRPr dirty="0"/>
          </a:p>
        </p:txBody>
      </p:sp>
      <p:sp>
        <p:nvSpPr>
          <p:cNvPr id="330" name="Google Shape;330;p24"/>
          <p:cNvSpPr txBox="1"/>
          <p:nvPr/>
        </p:nvSpPr>
        <p:spPr>
          <a:xfrm>
            <a:off x="8207275" y="3528714"/>
            <a:ext cx="2833791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Offline Deployment</a:t>
            </a:r>
            <a:endParaRPr dirty="0"/>
          </a:p>
        </p:txBody>
      </p:sp>
      <p:sp>
        <p:nvSpPr>
          <p:cNvPr id="331" name="Google Shape;331;p24"/>
          <p:cNvSpPr txBox="1"/>
          <p:nvPr/>
        </p:nvSpPr>
        <p:spPr>
          <a:xfrm>
            <a:off x="8207275" y="3833514"/>
            <a:ext cx="269884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Standalone HTML distribution with high performance node search and filtering features.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</Words>
  <Application>Microsoft Office PowerPoint</Application>
  <PresentationFormat>宽屏</PresentationFormat>
  <Paragraphs>57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Montserrat ExtraBold</vt:lpstr>
      <vt:lpstr>Montserrat</vt:lpstr>
      <vt:lpstr>JetBrains Mono</vt:lpstr>
      <vt:lpstr>Inter SemiBold</vt:lpstr>
      <vt:lpstr>Inter Medium</vt:lpstr>
      <vt:lpstr>Calibri</vt:lpstr>
      <vt:lpstr>Inter</vt:lpstr>
      <vt:lpstr>JetBrains Mono SemiBold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Jiaming Ren</cp:lastModifiedBy>
  <cp:revision>1</cp:revision>
  <dcterms:modified xsi:type="dcterms:W3CDTF">2026-05-28T16:51:13Z</dcterms:modified>
</cp:coreProperties>
</file>